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4.jpeg" ContentType="image/jpeg"/>
  <Override PartName="/ppt/media/image12.png" ContentType="image/png"/>
  <Override PartName="/ppt/media/image7.png" ContentType="image/png"/>
  <Override PartName="/ppt/media/image11.png" ContentType="image/png"/>
  <Override PartName="/ppt/media/image6.png" ContentType="image/png"/>
  <Override PartName="/ppt/media/image10.png" ContentType="image/png"/>
  <Override PartName="/ppt/media/image5.png" ContentType="image/png"/>
  <Override PartName="/ppt/media/image28.png" ContentType="image/png"/>
  <Override PartName="/ppt/media/image4.png" ContentType="image/png"/>
  <Override PartName="/ppt/media/image27.png" ContentType="image/png"/>
  <Override PartName="/ppt/media/image3.png" ContentType="image/png"/>
  <Override PartName="/ppt/media/image26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.png" ContentType="image/png"/>
  <Override PartName="/ppt/media/image24.png" ContentType="image/png"/>
  <Override PartName="/ppt/media/image25.png" ContentType="image/png"/>
  <Override PartName="/ppt/media/image2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move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839DAB5-09A9-4021-B4E3-E56EB2C45BD6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ustomShape 1"/>
          <p:cNvSpPr/>
          <p:nvPr/>
        </p:nvSpPr>
        <p:spPr>
          <a:xfrm>
            <a:off x="4278240" y="10156680"/>
            <a:ext cx="3278520" cy="53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3000"/>
              </a:lnSpc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</a:tabLst>
            </a:pPr>
            <a:fld id="{9D35CAD9-362C-4AC0-AD99-9C3640696415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3680" cy="4007520"/>
          </a:xfrm>
          <a:prstGeom prst="rect">
            <a:avLst/>
          </a:prstGeom>
          <a:ln w="0">
            <a:noFill/>
          </a:ln>
        </p:spPr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CustomShape 1"/>
          <p:cNvSpPr/>
          <p:nvPr/>
        </p:nvSpPr>
        <p:spPr>
          <a:xfrm>
            <a:off x="4278240" y="10156680"/>
            <a:ext cx="3278520" cy="53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3000"/>
              </a:lnSpc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</a:tabLst>
            </a:pPr>
            <a:fld id="{5ECDB678-2A93-4BB9-ADAC-07685454D8AF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3680" cy="400752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CustomShape 1"/>
          <p:cNvSpPr/>
          <p:nvPr/>
        </p:nvSpPr>
        <p:spPr>
          <a:xfrm>
            <a:off x="4278240" y="10156680"/>
            <a:ext cx="3278520" cy="53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3000"/>
              </a:lnSpc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</a:tabLst>
            </a:pPr>
            <a:fld id="{4E79142C-470E-4E37-8D21-6965DA93D161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3680" cy="400752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CustomShape 1"/>
          <p:cNvSpPr/>
          <p:nvPr/>
        </p:nvSpPr>
        <p:spPr>
          <a:xfrm>
            <a:off x="4278240" y="10156680"/>
            <a:ext cx="3278520" cy="53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3000"/>
              </a:lnSpc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</a:tabLst>
            </a:pPr>
            <a:fld id="{4DE6A987-8A00-4126-AE9F-E1CF24C5244C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3680" cy="400752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CustomShape 1"/>
          <p:cNvSpPr/>
          <p:nvPr/>
        </p:nvSpPr>
        <p:spPr>
          <a:xfrm>
            <a:off x="4278240" y="10156680"/>
            <a:ext cx="3278520" cy="53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3000"/>
              </a:lnSpc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</a:tabLst>
            </a:pPr>
            <a:fld id="{C0FFFAE7-15E1-48EA-8114-A380F24B074C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3680" cy="400752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/>
          <p:cNvSpPr/>
          <p:nvPr/>
        </p:nvSpPr>
        <p:spPr>
          <a:xfrm>
            <a:off x="4278240" y="10156680"/>
            <a:ext cx="3278520" cy="53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3000"/>
              </a:lnSpc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</a:tabLst>
            </a:pPr>
            <a:fld id="{F822D9AF-BFF5-4E4E-A6A8-21D0DD47C3FB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3680" cy="400752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CustomShape 1"/>
          <p:cNvSpPr/>
          <p:nvPr/>
        </p:nvSpPr>
        <p:spPr>
          <a:xfrm>
            <a:off x="4278240" y="10156680"/>
            <a:ext cx="3278520" cy="53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3000"/>
              </a:lnSpc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</a:tabLst>
            </a:pPr>
            <a:fld id="{E03AA669-A8DE-41A5-B896-B70871AD2303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3680" cy="400752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CustomShape 1"/>
          <p:cNvSpPr/>
          <p:nvPr/>
        </p:nvSpPr>
        <p:spPr>
          <a:xfrm>
            <a:off x="4278240" y="10156680"/>
            <a:ext cx="3278520" cy="53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3000"/>
              </a:lnSpc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</a:tabLst>
            </a:pPr>
            <a:fld id="{FA42B6BD-3CE3-46A8-B21A-2B9422D7670A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3680" cy="400752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CustomShape 1"/>
          <p:cNvSpPr/>
          <p:nvPr/>
        </p:nvSpPr>
        <p:spPr>
          <a:xfrm>
            <a:off x="4278240" y="10156680"/>
            <a:ext cx="3278520" cy="53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3000"/>
              </a:lnSpc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</a:tabLst>
            </a:pPr>
            <a:fld id="{310F1801-A5C9-4B31-8F7D-47AC2D120262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3680" cy="400752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edit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ustomShape 1"/>
          <p:cNvSpPr/>
          <p:nvPr/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edit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506520" y="4680"/>
            <a:ext cx="10514520" cy="13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93000"/>
              </a:lnSpc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</a:tabLst>
            </a:pPr>
            <a:r>
              <a:rPr b="1" lang="ru-RU" sz="22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Анализ бинарных файлов для обнаружения вредоносного программного обеспечения с использованием методов машинного обучения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CustomShape 2"/>
          <p:cNvSpPr/>
          <p:nvPr/>
        </p:nvSpPr>
        <p:spPr>
          <a:xfrm>
            <a:off x="152280" y="1010520"/>
            <a:ext cx="10347840" cy="49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7600" bIns="45000" anchor="t">
            <a:noAutofit/>
          </a:bodyPr>
          <a:p>
            <a:pPr>
              <a:lnSpc>
                <a:spcPct val="93000"/>
              </a:lnSpc>
              <a:spcBef>
                <a:spcPts val="1199"/>
              </a:spcBef>
              <a:spcAft>
                <a:spcPts val="1001"/>
              </a:spcAft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3000"/>
              </a:lnSpc>
              <a:spcBef>
                <a:spcPts val="1199"/>
              </a:spcBef>
              <a:spcAft>
                <a:spcPts val="1001"/>
              </a:spcAft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3000"/>
              </a:lnSpc>
              <a:spcBef>
                <a:spcPts val="1199"/>
              </a:spcBef>
              <a:spcAft>
                <a:spcPts val="1001"/>
              </a:spcAft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CustomShape 3"/>
          <p:cNvSpPr/>
          <p:nvPr/>
        </p:nvSpPr>
        <p:spPr>
          <a:xfrm>
            <a:off x="9732960" y="1430640"/>
            <a:ext cx="2381760" cy="60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CustomShape 4"/>
          <p:cNvSpPr/>
          <p:nvPr/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</a:tabLst>
            </a:pPr>
            <a:fld id="{E355DF5E-134B-4898-8685-1F0CD89A4A97}" type="slidenum">
              <a:rPr b="0" lang="ru-RU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213840" y="1329480"/>
            <a:ext cx="2711880" cy="4796640"/>
          </a:xfrm>
          <a:prstGeom prst="rect">
            <a:avLst/>
          </a:prstGeom>
          <a:ln w="0">
            <a:noFill/>
          </a:ln>
        </p:spPr>
      </p:pic>
      <p:pic>
        <p:nvPicPr>
          <p:cNvPr id="89" name="" descr=""/>
          <p:cNvPicPr/>
          <p:nvPr/>
        </p:nvPicPr>
        <p:blipFill>
          <a:blip r:embed="rId2"/>
          <a:stretch/>
        </p:blipFill>
        <p:spPr>
          <a:xfrm>
            <a:off x="2834640" y="1371600"/>
            <a:ext cx="4773240" cy="4812120"/>
          </a:xfrm>
          <a:prstGeom prst="rect">
            <a:avLst/>
          </a:prstGeom>
          <a:ln w="0">
            <a:noFill/>
          </a:ln>
        </p:spPr>
      </p:pic>
      <p:pic>
        <p:nvPicPr>
          <p:cNvPr id="90" name="" descr=""/>
          <p:cNvPicPr/>
          <p:nvPr/>
        </p:nvPicPr>
        <p:blipFill>
          <a:blip r:embed="rId3"/>
          <a:stretch/>
        </p:blipFill>
        <p:spPr>
          <a:xfrm>
            <a:off x="8229600" y="1122480"/>
            <a:ext cx="3218760" cy="1437480"/>
          </a:xfrm>
          <a:prstGeom prst="rect">
            <a:avLst/>
          </a:prstGeom>
          <a:ln w="0">
            <a:noFill/>
          </a:ln>
        </p:spPr>
      </p:pic>
      <p:sp>
        <p:nvSpPr>
          <p:cNvPr id="91" name="TextShape 5"/>
          <p:cNvSpPr/>
          <p:nvPr/>
        </p:nvSpPr>
        <p:spPr>
          <a:xfrm>
            <a:off x="8152560" y="2651760"/>
            <a:ext cx="3459960" cy="110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Hex dump of the Blaster worm, showing a message left for Microsoft co-founder Bill Gates by the worm's programmer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" name="" descr=""/>
          <p:cNvPicPr/>
          <p:nvPr/>
        </p:nvPicPr>
        <p:blipFill>
          <a:blip r:embed="rId4"/>
          <a:stretch/>
        </p:blipFill>
        <p:spPr>
          <a:xfrm>
            <a:off x="8765280" y="4297680"/>
            <a:ext cx="2847240" cy="1599480"/>
          </a:xfrm>
          <a:prstGeom prst="rect">
            <a:avLst/>
          </a:prstGeom>
          <a:ln w="0">
            <a:noFill/>
          </a:ln>
        </p:spPr>
      </p:pic>
      <p:pic>
        <p:nvPicPr>
          <p:cNvPr id="93" name="" descr=""/>
          <p:cNvPicPr/>
          <p:nvPr/>
        </p:nvPicPr>
        <p:blipFill>
          <a:blip r:embed="rId5"/>
          <a:stretch/>
        </p:blipFill>
        <p:spPr>
          <a:xfrm>
            <a:off x="7934760" y="4114800"/>
            <a:ext cx="4134960" cy="2329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CustomShape 1"/>
          <p:cNvSpPr/>
          <p:nvPr/>
        </p:nvSpPr>
        <p:spPr>
          <a:xfrm>
            <a:off x="822960" y="33120"/>
            <a:ext cx="10514520" cy="92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ru-RU" sz="2200" spc="-1" strike="noStrike">
                <a:solidFill>
                  <a:srgbClr val="000000"/>
                </a:solidFill>
                <a:latin typeface="Arial"/>
                <a:ea typeface="Noto Sans CJK SC"/>
              </a:rPr>
              <a:t>Обнаружение и анализ вредоносного программного обеспечения на основе теории  графов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CustomShape 2"/>
          <p:cNvSpPr/>
          <p:nvPr/>
        </p:nvSpPr>
        <p:spPr>
          <a:xfrm>
            <a:off x="2819520" y="1197000"/>
            <a:ext cx="4597920" cy="2505600"/>
          </a:xfrm>
          <a:prstGeom prst="rect">
            <a:avLst/>
          </a:prstGeom>
          <a:noFill/>
          <a:ln>
            <a:noFill/>
          </a:ln>
        </p:spPr>
        <p:style>
          <a:lnRef idx="2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CustomShape 3"/>
          <p:cNvSpPr/>
          <p:nvPr/>
        </p:nvSpPr>
        <p:spPr>
          <a:xfrm>
            <a:off x="0" y="4683240"/>
            <a:ext cx="431676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3108960" y="871200"/>
            <a:ext cx="6857640" cy="5895000"/>
          </a:xfrm>
          <a:prstGeom prst="rect">
            <a:avLst/>
          </a:prstGeom>
          <a:ln w="0">
            <a:noFill/>
          </a:ln>
        </p:spPr>
      </p:pic>
      <p:sp>
        <p:nvSpPr>
          <p:cNvPr id="98" name="CustomShape 4"/>
          <p:cNvSpPr/>
          <p:nvPr/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</a:tabLst>
            </a:pPr>
            <a:fld id="{8C155B29-A9EF-4BFF-9747-960B9FF6C05B}" type="slidenum">
              <a:rPr b="0" lang="ru-RU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Shape 5"/>
          <p:cNvSpPr/>
          <p:nvPr/>
        </p:nvSpPr>
        <p:spPr>
          <a:xfrm>
            <a:off x="182880" y="1005840"/>
            <a:ext cx="3017160" cy="14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Разделение части ВПО и легитимного ПО на кластеры с использованием алгоритма neato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ustomShape 1"/>
          <p:cNvSpPr/>
          <p:nvPr/>
        </p:nvSpPr>
        <p:spPr>
          <a:xfrm>
            <a:off x="506520" y="4680"/>
            <a:ext cx="10514520" cy="13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93000"/>
              </a:lnSpc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</a:tabLst>
            </a:pPr>
            <a:r>
              <a:rPr b="1" lang="ru-RU" sz="22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Динамический анализ  файлов для обнаружения вредоносного программного обеспечения с использованием методов машинного обучения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CustomShape 2"/>
          <p:cNvSpPr/>
          <p:nvPr/>
        </p:nvSpPr>
        <p:spPr>
          <a:xfrm>
            <a:off x="152280" y="1010520"/>
            <a:ext cx="10347840" cy="49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7600" bIns="45000" anchor="t">
            <a:noAutofit/>
          </a:bodyPr>
          <a:p>
            <a:pPr>
              <a:lnSpc>
                <a:spcPct val="93000"/>
              </a:lnSpc>
              <a:spcBef>
                <a:spcPts val="1199"/>
              </a:spcBef>
              <a:spcAft>
                <a:spcPts val="1001"/>
              </a:spcAft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3000"/>
              </a:lnSpc>
              <a:spcBef>
                <a:spcPts val="1199"/>
              </a:spcBef>
              <a:spcAft>
                <a:spcPts val="1001"/>
              </a:spcAft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3000"/>
              </a:lnSpc>
              <a:spcBef>
                <a:spcPts val="1199"/>
              </a:spcBef>
              <a:spcAft>
                <a:spcPts val="1001"/>
              </a:spcAft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CustomShape 3"/>
          <p:cNvSpPr/>
          <p:nvPr/>
        </p:nvSpPr>
        <p:spPr>
          <a:xfrm>
            <a:off x="9732960" y="1430640"/>
            <a:ext cx="2381760" cy="60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CustomShape 4"/>
          <p:cNvSpPr/>
          <p:nvPr/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</a:tabLst>
            </a:pPr>
            <a:fld id="{75EE41AA-2CE2-4883-AC79-5DDE8BC55D83}" type="slidenum">
              <a:rPr b="0" lang="ru-RU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4" name="" descr=""/>
          <p:cNvPicPr/>
          <p:nvPr/>
        </p:nvPicPr>
        <p:blipFill>
          <a:blip r:embed="rId1"/>
          <a:stretch/>
        </p:blipFill>
        <p:spPr>
          <a:xfrm>
            <a:off x="3840480" y="1097280"/>
            <a:ext cx="4085640" cy="1113840"/>
          </a:xfrm>
          <a:prstGeom prst="rect">
            <a:avLst/>
          </a:prstGeom>
          <a:ln w="0">
            <a:noFill/>
          </a:ln>
        </p:spPr>
      </p:pic>
      <p:pic>
        <p:nvPicPr>
          <p:cNvPr id="105" name="" descr=""/>
          <p:cNvPicPr/>
          <p:nvPr/>
        </p:nvPicPr>
        <p:blipFill>
          <a:blip r:embed="rId2"/>
          <a:stretch/>
        </p:blipFill>
        <p:spPr>
          <a:xfrm>
            <a:off x="365760" y="2163960"/>
            <a:ext cx="7131960" cy="4602240"/>
          </a:xfrm>
          <a:prstGeom prst="rect">
            <a:avLst/>
          </a:prstGeom>
          <a:ln w="0">
            <a:noFill/>
          </a:ln>
        </p:spPr>
      </p:pic>
      <p:pic>
        <p:nvPicPr>
          <p:cNvPr id="106" name="" descr=""/>
          <p:cNvPicPr/>
          <p:nvPr/>
        </p:nvPicPr>
        <p:blipFill>
          <a:blip r:embed="rId3"/>
          <a:stretch/>
        </p:blipFill>
        <p:spPr>
          <a:xfrm>
            <a:off x="8461800" y="1280160"/>
            <a:ext cx="3150720" cy="2006640"/>
          </a:xfrm>
          <a:prstGeom prst="rect">
            <a:avLst/>
          </a:prstGeom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4"/>
          <a:stretch/>
        </p:blipFill>
        <p:spPr>
          <a:xfrm>
            <a:off x="7589520" y="3291840"/>
            <a:ext cx="4785480" cy="3333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CustomShape 1"/>
          <p:cNvSpPr/>
          <p:nvPr/>
        </p:nvSpPr>
        <p:spPr>
          <a:xfrm>
            <a:off x="823680" y="38520"/>
            <a:ext cx="10514520" cy="92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60000" algn="ctr">
              <a:lnSpc>
                <a:spcPct val="100000"/>
              </a:lnSpc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Анализ файлов журналиров сетевых служб в целях обнаружения компьютерных атак ботов с использованием методов машинного обучения, анализа времнных рядов и поиска аномалий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9" name="Picture 2" descr=""/>
          <p:cNvPicPr/>
          <p:nvPr/>
        </p:nvPicPr>
        <p:blipFill>
          <a:blip r:embed="rId1"/>
          <a:stretch/>
        </p:blipFill>
        <p:spPr>
          <a:xfrm>
            <a:off x="7279920" y="914400"/>
            <a:ext cx="3509640" cy="3108600"/>
          </a:xfrm>
          <a:prstGeom prst="rect">
            <a:avLst/>
          </a:prstGeom>
          <a:ln w="0">
            <a:noFill/>
          </a:ln>
        </p:spPr>
      </p:pic>
      <p:pic>
        <p:nvPicPr>
          <p:cNvPr id="110" name="Picture 4" descr=""/>
          <p:cNvPicPr/>
          <p:nvPr/>
        </p:nvPicPr>
        <p:blipFill>
          <a:blip r:embed="rId2"/>
          <a:stretch/>
        </p:blipFill>
        <p:spPr>
          <a:xfrm>
            <a:off x="5878440" y="3200400"/>
            <a:ext cx="2442240" cy="3381840"/>
          </a:xfrm>
          <a:prstGeom prst="rect">
            <a:avLst/>
          </a:prstGeom>
          <a:ln w="0">
            <a:noFill/>
          </a:ln>
        </p:spPr>
      </p:pic>
      <p:sp>
        <p:nvSpPr>
          <p:cNvPr id="111" name="CustomShape 2"/>
          <p:cNvSpPr/>
          <p:nvPr/>
        </p:nvSpPr>
        <p:spPr>
          <a:xfrm>
            <a:off x="91440" y="4726080"/>
            <a:ext cx="431676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CustomShape 3"/>
          <p:cNvSpPr/>
          <p:nvPr/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</a:tabLst>
            </a:pPr>
            <a:fld id="{7ACCC5FE-D2D5-4908-9122-96507FC906FD}" type="slidenum">
              <a:rPr b="0" lang="ru-RU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3" name="" descr=""/>
          <p:cNvPicPr/>
          <p:nvPr/>
        </p:nvPicPr>
        <p:blipFill>
          <a:blip r:embed="rId3"/>
          <a:stretch/>
        </p:blipFill>
        <p:spPr>
          <a:xfrm>
            <a:off x="91440" y="968040"/>
            <a:ext cx="5888880" cy="2780640"/>
          </a:xfrm>
          <a:prstGeom prst="rect">
            <a:avLst/>
          </a:prstGeom>
          <a:ln w="0">
            <a:noFill/>
          </a:ln>
        </p:spPr>
      </p:pic>
      <p:pic>
        <p:nvPicPr>
          <p:cNvPr id="114" name="Picture 5" descr=""/>
          <p:cNvPicPr/>
          <p:nvPr/>
        </p:nvPicPr>
        <p:blipFill>
          <a:blip r:embed="rId4"/>
          <a:stretch/>
        </p:blipFill>
        <p:spPr>
          <a:xfrm>
            <a:off x="91440" y="3201480"/>
            <a:ext cx="5884560" cy="3198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CustomShape 1"/>
          <p:cNvSpPr/>
          <p:nvPr/>
        </p:nvSpPr>
        <p:spPr>
          <a:xfrm>
            <a:off x="506520" y="4680"/>
            <a:ext cx="10514520" cy="13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ru-RU" sz="2200" spc="-1" strike="noStrike">
                <a:solidFill>
                  <a:srgbClr val="000000"/>
                </a:solidFill>
                <a:latin typeface="Arial"/>
                <a:ea typeface="Noto Sans CJK SC"/>
              </a:rPr>
              <a:t>Определение вредоносного сетевого траффика в IDS с использованием методов машинного обучения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CustomShape 2"/>
          <p:cNvSpPr/>
          <p:nvPr/>
        </p:nvSpPr>
        <p:spPr>
          <a:xfrm>
            <a:off x="152280" y="1010520"/>
            <a:ext cx="10347840" cy="49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7600" bIns="45000" anchor="t">
            <a:noAutofit/>
          </a:bodyPr>
          <a:p>
            <a:pPr>
              <a:lnSpc>
                <a:spcPct val="93000"/>
              </a:lnSpc>
              <a:spcBef>
                <a:spcPts val="1199"/>
              </a:spcBef>
              <a:spcAft>
                <a:spcPts val="1001"/>
              </a:spcAft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3000"/>
              </a:lnSpc>
              <a:spcBef>
                <a:spcPts val="1199"/>
              </a:spcBef>
              <a:spcAft>
                <a:spcPts val="1001"/>
              </a:spcAft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3000"/>
              </a:lnSpc>
              <a:spcBef>
                <a:spcPts val="1199"/>
              </a:spcBef>
              <a:spcAft>
                <a:spcPts val="1001"/>
              </a:spcAft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Система обнаружения вторжений (  Intrusion Detection System (IDS))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7" name="Picture 5_1" descr=""/>
          <p:cNvPicPr/>
          <p:nvPr/>
        </p:nvPicPr>
        <p:blipFill>
          <a:blip r:embed="rId1"/>
          <a:stretch/>
        </p:blipFill>
        <p:spPr>
          <a:xfrm>
            <a:off x="6046920" y="2834640"/>
            <a:ext cx="5199480" cy="2041920"/>
          </a:xfrm>
          <a:prstGeom prst="rect">
            <a:avLst/>
          </a:prstGeom>
          <a:ln w="0">
            <a:noFill/>
          </a:ln>
        </p:spPr>
      </p:pic>
      <p:pic>
        <p:nvPicPr>
          <p:cNvPr id="118" name="Picture 6_1" descr=""/>
          <p:cNvPicPr/>
          <p:nvPr/>
        </p:nvPicPr>
        <p:blipFill>
          <a:blip r:embed="rId2"/>
          <a:stretch/>
        </p:blipFill>
        <p:spPr>
          <a:xfrm>
            <a:off x="807840" y="2743200"/>
            <a:ext cx="3854880" cy="2102400"/>
          </a:xfrm>
          <a:prstGeom prst="rect">
            <a:avLst/>
          </a:prstGeom>
          <a:ln w="0">
            <a:noFill/>
          </a:ln>
        </p:spPr>
      </p:pic>
      <p:sp>
        <p:nvSpPr>
          <p:cNvPr id="119" name="CustomShape 3"/>
          <p:cNvSpPr/>
          <p:nvPr/>
        </p:nvSpPr>
        <p:spPr>
          <a:xfrm>
            <a:off x="9732960" y="1430640"/>
            <a:ext cx="2381760" cy="60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CustomShape 4"/>
          <p:cNvSpPr/>
          <p:nvPr/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</a:tabLst>
            </a:pPr>
            <a:fld id="{F022E759-229A-4495-AF1E-F205CC77DFAE}" type="slidenum">
              <a:rPr b="0" lang="ru-RU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685800" y="90720"/>
            <a:ext cx="10514520" cy="106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15000"/>
              </a:lnSpc>
              <a:tabLst>
                <a:tab algn="l" pos="0"/>
              </a:tabLst>
            </a:pPr>
            <a:r>
              <a:rPr b="1" lang="ru-RU" sz="2200" spc="-1" strike="noStrike">
                <a:solidFill>
                  <a:srgbClr val="000000"/>
                </a:solidFill>
                <a:latin typeface="Arial"/>
                <a:ea typeface="Noto Sans CJK SC"/>
              </a:rPr>
              <a:t>Определение вредоносного сетевого траффика в  </a:t>
            </a: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Noto Sans CJK SC"/>
              </a:rPr>
              <a:t>WAF</a:t>
            </a:r>
            <a:r>
              <a:rPr b="1" lang="ru-RU" sz="22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2" name="Picture 3" descr=""/>
          <p:cNvPicPr/>
          <p:nvPr/>
        </p:nvPicPr>
        <p:blipFill>
          <a:blip r:embed="rId1"/>
          <a:stretch/>
        </p:blipFill>
        <p:spPr>
          <a:xfrm>
            <a:off x="7848720" y="4428000"/>
            <a:ext cx="3626280" cy="2377080"/>
          </a:xfrm>
          <a:prstGeom prst="rect">
            <a:avLst/>
          </a:prstGeom>
          <a:ln w="0">
            <a:noFill/>
          </a:ln>
        </p:spPr>
      </p:pic>
      <p:sp>
        <p:nvSpPr>
          <p:cNvPr id="123" name="CustomShape 2"/>
          <p:cNvSpPr/>
          <p:nvPr/>
        </p:nvSpPr>
        <p:spPr>
          <a:xfrm>
            <a:off x="274680" y="4702320"/>
            <a:ext cx="4296240" cy="261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24" name="Table 3"/>
          <p:cNvGraphicFramePr/>
          <p:nvPr/>
        </p:nvGraphicFramePr>
        <p:xfrm>
          <a:off x="5021280" y="1109880"/>
          <a:ext cx="7016040" cy="2050560"/>
        </p:xfrm>
        <a:graphic>
          <a:graphicData uri="http://schemas.openxmlformats.org/drawingml/2006/table">
            <a:tbl>
              <a:tblPr/>
              <a:tblGrid>
                <a:gridCol w="1298880"/>
                <a:gridCol w="5717520"/>
              </a:tblGrid>
              <a:tr h="276480">
                <a:tc>
                  <a:txBody>
                    <a:bodyPr lIns="90000" rIns="90000" anchor="t">
                      <a:noAutofit/>
                    </a:bodyPr>
                    <a:p>
                      <a:pPr algn="just">
                        <a:lnSpc>
                          <a:spcPct val="93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Признак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just">
                        <a:lnSpc>
                          <a:spcPct val="93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Пример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25704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83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meta1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83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REQUEST_ARGS, RESPONSE_BODY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257040">
                <a:tc>
                  <a:txBody>
                    <a:bodyPr lIns="90000" rIns="90000" anchor="t">
                      <a:noAutofit/>
                    </a:bodyPr>
                    <a:p>
                      <a:pPr algn="just">
                        <a:lnSpc>
                          <a:spcPct val="83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id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83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22537304bd78ca42f3b1acedf832b36d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25704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83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meta2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83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User-Agent, pwd, url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58320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83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vector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83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'999007249 {${print(chr(49)%2bchr(55)%2bchr(73)%2bchr(53)%2bchr(51)%2bchr(48)%2bchr(86)%2bchr(65)%2bchr(117)%2bchr(52))}}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41976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83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meta5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83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'Mozilla/5.0 (Windows NT 10.0; Win64; x64) AppleWebKit/537.36 (KHTML, like Gecko) Chrome/58.0.3029.110 Safari/537.36'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pic>
        <p:nvPicPr>
          <p:cNvPr id="125" name="Picture 50" descr=""/>
          <p:cNvPicPr/>
          <p:nvPr/>
        </p:nvPicPr>
        <p:blipFill>
          <a:blip r:embed="rId2"/>
          <a:stretch/>
        </p:blipFill>
        <p:spPr>
          <a:xfrm>
            <a:off x="4572000" y="3947760"/>
            <a:ext cx="3397680" cy="1508040"/>
          </a:xfrm>
          <a:prstGeom prst="rect">
            <a:avLst/>
          </a:prstGeom>
          <a:ln w="0">
            <a:noFill/>
          </a:ln>
        </p:spPr>
      </p:pic>
      <p:sp>
        <p:nvSpPr>
          <p:cNvPr id="126" name="CustomShape 4"/>
          <p:cNvSpPr/>
          <p:nvPr/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</a:tabLst>
            </a:pPr>
            <a:fld id="{41F082C1-A110-454B-B0A4-B417D513DA10}" type="slidenum">
              <a:rPr b="0" lang="ru-RU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7" name="Picture 53" descr="Hardware, Software, and Cloud Web Application Firewall | WAF | Cloudbric  Corp."/>
          <p:cNvPicPr/>
          <p:nvPr/>
        </p:nvPicPr>
        <p:blipFill>
          <a:blip r:embed="rId3"/>
          <a:stretch/>
        </p:blipFill>
        <p:spPr>
          <a:xfrm>
            <a:off x="76320" y="1193760"/>
            <a:ext cx="4809960" cy="27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CustomShape 1"/>
          <p:cNvSpPr/>
          <p:nvPr/>
        </p:nvSpPr>
        <p:spPr>
          <a:xfrm>
            <a:off x="838080" y="365040"/>
            <a:ext cx="10514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15000"/>
              </a:lnSpc>
              <a:tabLst>
                <a:tab algn="l" pos="0"/>
              </a:tabLst>
            </a:pPr>
            <a:r>
              <a:rPr b="1" lang="ru-RU" sz="2200" spc="-1" strike="noStrike">
                <a:solidFill>
                  <a:srgbClr val="000000"/>
                </a:solidFill>
                <a:latin typeface="Arial"/>
                <a:ea typeface="Noto Sans CJK SC"/>
              </a:rPr>
              <a:t>Определение фишинговых ссылок (URL ) и сообщений с использованием методов natural language processing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CustomShape 2"/>
          <p:cNvSpPr/>
          <p:nvPr/>
        </p:nvSpPr>
        <p:spPr>
          <a:xfrm>
            <a:off x="3124080" y="4648320"/>
            <a:ext cx="2742120" cy="77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CustomShape 3"/>
          <p:cNvSpPr/>
          <p:nvPr/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</a:tabLst>
            </a:pPr>
            <a:fld id="{B9881334-FA9E-470F-9136-A309A4066C8C}" type="slidenum">
              <a:rPr b="0" lang="ru-RU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1" name="" descr=""/>
          <p:cNvPicPr/>
          <p:nvPr/>
        </p:nvPicPr>
        <p:blipFill>
          <a:blip r:embed="rId1"/>
          <a:stretch/>
        </p:blipFill>
        <p:spPr>
          <a:xfrm>
            <a:off x="4754880" y="1280160"/>
            <a:ext cx="6994080" cy="5046840"/>
          </a:xfrm>
          <a:prstGeom prst="rect">
            <a:avLst/>
          </a:prstGeom>
          <a:ln w="0">
            <a:noFill/>
          </a:ln>
        </p:spPr>
      </p:pic>
      <p:pic>
        <p:nvPicPr>
          <p:cNvPr id="132" name="" descr=""/>
          <p:cNvPicPr/>
          <p:nvPr/>
        </p:nvPicPr>
        <p:blipFill>
          <a:blip r:embed="rId2"/>
          <a:stretch/>
        </p:blipFill>
        <p:spPr>
          <a:xfrm>
            <a:off x="198360" y="1041480"/>
            <a:ext cx="3916080" cy="5741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CustomShape 1"/>
          <p:cNvSpPr/>
          <p:nvPr/>
        </p:nvSpPr>
        <p:spPr>
          <a:xfrm>
            <a:off x="228600" y="-33480"/>
            <a:ext cx="10514520" cy="94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ru-RU" sz="2200" spc="-1" strike="noStrike">
                <a:solidFill>
                  <a:srgbClr val="000000"/>
                </a:solidFill>
                <a:latin typeface="Arial"/>
                <a:ea typeface="Noto Sans CJK SC"/>
              </a:rPr>
              <a:t>Классификация паролей по уровню сложности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4" name="Picture 2" descr=""/>
          <p:cNvPicPr/>
          <p:nvPr/>
        </p:nvPicPr>
        <p:blipFill>
          <a:blip r:embed="rId1"/>
          <a:stretch/>
        </p:blipFill>
        <p:spPr>
          <a:xfrm>
            <a:off x="1180440" y="1645920"/>
            <a:ext cx="4671000" cy="129420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135" name="Table 2"/>
          <p:cNvGraphicFramePr/>
          <p:nvPr/>
        </p:nvGraphicFramePr>
        <p:xfrm>
          <a:off x="2871720" y="3793680"/>
          <a:ext cx="4104720" cy="2247840"/>
        </p:xfrm>
        <a:graphic>
          <a:graphicData uri="http://schemas.openxmlformats.org/drawingml/2006/table">
            <a:tbl>
              <a:tblPr/>
              <a:tblGrid>
                <a:gridCol w="1581120"/>
                <a:gridCol w="2523960"/>
              </a:tblGrid>
              <a:tr h="54036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93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Стойкость пароля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93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Примеры паролей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54036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93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93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wewes19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93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asdas95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54036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93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93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oyeleye1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93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80188063JA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54036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93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93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JFRTgxTQyNQTh9ZD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93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d7a6AoTMxMw0dLVy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pic>
        <p:nvPicPr>
          <p:cNvPr id="136" name="Picture 35" descr=""/>
          <p:cNvPicPr/>
          <p:nvPr/>
        </p:nvPicPr>
        <p:blipFill>
          <a:blip r:embed="rId2"/>
          <a:stretch/>
        </p:blipFill>
        <p:spPr>
          <a:xfrm>
            <a:off x="7543800" y="792360"/>
            <a:ext cx="4459680" cy="3285000"/>
          </a:xfrm>
          <a:prstGeom prst="rect">
            <a:avLst/>
          </a:prstGeom>
          <a:ln w="0">
            <a:noFill/>
          </a:ln>
        </p:spPr>
      </p:pic>
      <p:sp>
        <p:nvSpPr>
          <p:cNvPr id="137" name="CustomShape 3"/>
          <p:cNvSpPr/>
          <p:nvPr/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</a:tabLst>
            </a:pPr>
            <a:fld id="{3AB048AE-3843-44DA-97FF-2EEAD6028F8A}" type="slidenum">
              <a:rPr b="0" lang="ru-RU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CustomShape 1"/>
          <p:cNvSpPr/>
          <p:nvPr/>
        </p:nvSpPr>
        <p:spPr>
          <a:xfrm>
            <a:off x="841320" y="152280"/>
            <a:ext cx="1051452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ru-RU" sz="2200" spc="-1" strike="noStrike">
                <a:solidFill>
                  <a:srgbClr val="000000"/>
                </a:solidFill>
                <a:latin typeface="Arial"/>
                <a:ea typeface="Noto Sans CJK SC"/>
              </a:rPr>
              <a:t>Подбор паролей при атаке со словарем  с использованием  генеративного машинного обучения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9" name="Picture 3" descr=""/>
          <p:cNvPicPr/>
          <p:nvPr/>
        </p:nvPicPr>
        <p:blipFill>
          <a:blip r:embed="rId1"/>
          <a:stretch/>
        </p:blipFill>
        <p:spPr>
          <a:xfrm>
            <a:off x="2844720" y="3382920"/>
            <a:ext cx="4561560" cy="2194560"/>
          </a:xfrm>
          <a:prstGeom prst="rect">
            <a:avLst/>
          </a:prstGeom>
          <a:ln w="0">
            <a:noFill/>
          </a:ln>
        </p:spPr>
      </p:pic>
      <p:sp>
        <p:nvSpPr>
          <p:cNvPr id="140" name="CustomShape 2"/>
          <p:cNvSpPr/>
          <p:nvPr/>
        </p:nvSpPr>
        <p:spPr>
          <a:xfrm>
            <a:off x="2678400" y="3088080"/>
            <a:ext cx="530280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CustomShape 3"/>
          <p:cNvSpPr/>
          <p:nvPr/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</a:tabLst>
            </a:pPr>
            <a:fld id="{E7398A5B-B5E5-46AD-9172-D63100B54084}" type="slidenum">
              <a:rPr b="0" lang="ru-RU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2" name="Рисунок 6" descr=""/>
          <p:cNvPicPr/>
          <p:nvPr/>
        </p:nvPicPr>
        <p:blipFill>
          <a:blip r:embed="rId2"/>
          <a:stretch/>
        </p:blipFill>
        <p:spPr>
          <a:xfrm>
            <a:off x="4191120" y="906480"/>
            <a:ext cx="7493040" cy="2025360"/>
          </a:xfrm>
          <a:prstGeom prst="rect">
            <a:avLst/>
          </a:prstGeom>
          <a:ln w="0">
            <a:noFill/>
          </a:ln>
        </p:spPr>
      </p:pic>
      <p:sp>
        <p:nvSpPr>
          <p:cNvPr id="143" name="CustomShape 4"/>
          <p:cNvSpPr/>
          <p:nvPr/>
        </p:nvSpPr>
        <p:spPr>
          <a:xfrm>
            <a:off x="457200" y="963000"/>
            <a:ext cx="3580200" cy="87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0840" bIns="45000" anchor="t">
            <a:noAutofit/>
          </a:bodyPr>
          <a:p>
            <a:pPr algn="just">
              <a:lnSpc>
                <a:spcPct val="93000"/>
              </a:lnSpc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Идея: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93000"/>
              </a:lnSpc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Создание словаря для перебора паролей на основе имеющихся наборов паролей, искусственно воссоздавая свойства паролей из этого набора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93000"/>
              </a:lnSpc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CustomShape 5"/>
          <p:cNvSpPr/>
          <p:nvPr/>
        </p:nvSpPr>
        <p:spPr>
          <a:xfrm>
            <a:off x="10287000" y="1523880"/>
            <a:ext cx="1675440" cy="1407960"/>
          </a:xfrm>
          <a:prstGeom prst="rect">
            <a:avLst/>
          </a:prstGeom>
          <a:solidFill>
            <a:srgbClr val="00b8ff">
              <a:alpha val="26000"/>
            </a:srgbClr>
          </a:solidFill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" descr=""/>
          <p:cNvPicPr/>
          <p:nvPr/>
        </p:nvPicPr>
        <p:blipFill>
          <a:blip r:embed="rId1"/>
          <a:stretch/>
        </p:blipFill>
        <p:spPr>
          <a:xfrm>
            <a:off x="470880" y="1188720"/>
            <a:ext cx="4100760" cy="1554120"/>
          </a:xfrm>
          <a:prstGeom prst="rect">
            <a:avLst/>
          </a:prstGeom>
          <a:ln w="0">
            <a:noFill/>
          </a:ln>
        </p:spPr>
      </p:pic>
      <p:sp>
        <p:nvSpPr>
          <p:cNvPr id="146" name="TextShape 1"/>
          <p:cNvSpPr/>
          <p:nvPr/>
        </p:nvSpPr>
        <p:spPr>
          <a:xfrm>
            <a:off x="2286000" y="365760"/>
            <a:ext cx="7904160" cy="71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Noto Sans CJK SC"/>
              </a:rPr>
              <a:t>Проведение атаки на антивирусы с использованием Adversarial machine learning и reinforcement learning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Shape 2"/>
          <p:cNvSpPr/>
          <p:nvPr/>
        </p:nvSpPr>
        <p:spPr>
          <a:xfrm>
            <a:off x="457200" y="3474720"/>
            <a:ext cx="7221960" cy="302436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8" name="" descr=""/>
          <p:cNvPicPr/>
          <p:nvPr/>
        </p:nvPicPr>
        <p:blipFill>
          <a:blip r:embed="rId3"/>
          <a:stretch/>
        </p:blipFill>
        <p:spPr>
          <a:xfrm>
            <a:off x="7406640" y="1168920"/>
            <a:ext cx="4217400" cy="2214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1321</TotalTime>
  <Application>LibreOffice/7.4.7.2$Linux_X86_64 LibreOffice_project/40$Build-2</Application>
  <AppVersion>15.0000</AppVersion>
  <Words>537</Words>
  <Paragraphs>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2022-12-24T09:12:18Z</dcterms:created>
  <dc:creator>Microsoft Office User</dc:creator>
  <dc:description/>
  <dc:language>en-US</dc:language>
  <cp:lastModifiedBy/>
  <cp:lastPrinted>1601-01-01T00:00:00Z</cp:lastPrinted>
  <dcterms:modified xsi:type="dcterms:W3CDTF">2024-03-24T13:50:10Z</dcterms:modified>
  <cp:revision>175</cp:revision>
  <dc:subject/>
  <dc:title>Метод анализа файлов журналирования в целях обнаружения компьютерных атак ботов на основе алгоритмов машинного обучения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0</vt:bool>
  </property>
  <property fmtid="{D5CDD505-2E9C-101B-9397-08002B2CF9AE}" pid="4" name="LinksUpToDate">
    <vt:bool>0</vt:bool>
  </property>
  <property fmtid="{D5CDD505-2E9C-101B-9397-08002B2CF9AE}" pid="5" name="MMClips">
    <vt:i4>0</vt:i4>
  </property>
  <property fmtid="{D5CDD505-2E9C-101B-9397-08002B2CF9AE}" pid="6" name="Notes">
    <vt:i4>9</vt:i4>
  </property>
  <property fmtid="{D5CDD505-2E9C-101B-9397-08002B2CF9AE}" pid="7" name="PresentationFormat">
    <vt:lpwstr>Широкоэкранный</vt:lpwstr>
  </property>
  <property fmtid="{D5CDD505-2E9C-101B-9397-08002B2CF9AE}" pid="8" name="ScaleCrop">
    <vt:bool>0</vt:bool>
  </property>
  <property fmtid="{D5CDD505-2E9C-101B-9397-08002B2CF9AE}" pid="9" name="ShareDoc">
    <vt:bool>0</vt:bool>
  </property>
  <property fmtid="{D5CDD505-2E9C-101B-9397-08002B2CF9AE}" pid="10" name="Slides">
    <vt:i4>9</vt:i4>
  </property>
</Properties>
</file>